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1" r:id="rId6"/>
    <p:sldId id="264" r:id="rId7"/>
    <p:sldId id="262" r:id="rId8"/>
    <p:sldId id="265" r:id="rId9"/>
    <p:sldId id="266" r:id="rId10"/>
    <p:sldId id="270"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7FA9C3-F91F-4193-BA21-ED4FB74EE4DC}" v="15" dt="2026-03-27T09:34:06.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yani Khandat" userId="e4f9d9f56e9cbcc7" providerId="LiveId" clId="{2A39BFCD-61F3-48D8-9CFB-CC9D7B720A08}"/>
    <pc:docChg chg="undo redo custSel addSld modSld">
      <pc:chgData name="Devyani Khandat" userId="e4f9d9f56e9cbcc7" providerId="LiveId" clId="{2A39BFCD-61F3-48D8-9CFB-CC9D7B720A08}" dt="2026-03-27T09:35:56.482" v="93" actId="20577"/>
      <pc:docMkLst>
        <pc:docMk/>
      </pc:docMkLst>
      <pc:sldChg chg="modSp mod">
        <pc:chgData name="Devyani Khandat" userId="e4f9d9f56e9cbcc7" providerId="LiveId" clId="{2A39BFCD-61F3-48D8-9CFB-CC9D7B720A08}" dt="2026-03-27T09:30:48.778" v="50" actId="20577"/>
        <pc:sldMkLst>
          <pc:docMk/>
          <pc:sldMk cId="3394590996" sldId="257"/>
        </pc:sldMkLst>
        <pc:spChg chg="mod">
          <ac:chgData name="Devyani Khandat" userId="e4f9d9f56e9cbcc7" providerId="LiveId" clId="{2A39BFCD-61F3-48D8-9CFB-CC9D7B720A08}" dt="2026-03-27T09:30:48.778" v="50" actId="20577"/>
          <ac:spMkLst>
            <pc:docMk/>
            <pc:sldMk cId="3394590996" sldId="257"/>
            <ac:spMk id="3" creationId="{0CB97D3F-4222-A43D-12C6-25E8D24D1C11}"/>
          </ac:spMkLst>
        </pc:spChg>
      </pc:sldChg>
      <pc:sldChg chg="modSp mod">
        <pc:chgData name="Devyani Khandat" userId="e4f9d9f56e9cbcc7" providerId="LiveId" clId="{2A39BFCD-61F3-48D8-9CFB-CC9D7B720A08}" dt="2026-03-27T09:28:42.467" v="12" actId="207"/>
        <pc:sldMkLst>
          <pc:docMk/>
          <pc:sldMk cId="3333625232" sldId="266"/>
        </pc:sldMkLst>
        <pc:spChg chg="mod">
          <ac:chgData name="Devyani Khandat" userId="e4f9d9f56e9cbcc7" providerId="LiveId" clId="{2A39BFCD-61F3-48D8-9CFB-CC9D7B720A08}" dt="2026-03-27T09:28:42.467" v="12" actId="207"/>
          <ac:spMkLst>
            <pc:docMk/>
            <pc:sldMk cId="3333625232" sldId="266"/>
            <ac:spMk id="2" creationId="{4DE0E9B5-770F-1117-9281-5DAA8DFA5489}"/>
          </ac:spMkLst>
        </pc:spChg>
      </pc:sldChg>
      <pc:sldChg chg="addSp modSp mod">
        <pc:chgData name="Devyani Khandat" userId="e4f9d9f56e9cbcc7" providerId="LiveId" clId="{2A39BFCD-61F3-48D8-9CFB-CC9D7B720A08}" dt="2026-03-27T09:30:12.701" v="28" actId="1076"/>
        <pc:sldMkLst>
          <pc:docMk/>
          <pc:sldMk cId="3748336271" sldId="268"/>
        </pc:sldMkLst>
        <pc:spChg chg="mod">
          <ac:chgData name="Devyani Khandat" userId="e4f9d9f56e9cbcc7" providerId="LiveId" clId="{2A39BFCD-61F3-48D8-9CFB-CC9D7B720A08}" dt="2026-03-27T09:29:53.896" v="27" actId="1076"/>
          <ac:spMkLst>
            <pc:docMk/>
            <pc:sldMk cId="3748336271" sldId="268"/>
            <ac:spMk id="2" creationId="{2089B0F4-F432-B82C-B077-7CDFD5E37B88}"/>
          </ac:spMkLst>
        </pc:spChg>
        <pc:spChg chg="add">
          <ac:chgData name="Devyani Khandat" userId="e4f9d9f56e9cbcc7" providerId="LiveId" clId="{2A39BFCD-61F3-48D8-9CFB-CC9D7B720A08}" dt="2026-03-27T09:28:21.697" v="8"/>
          <ac:spMkLst>
            <pc:docMk/>
            <pc:sldMk cId="3748336271" sldId="268"/>
            <ac:spMk id="3" creationId="{CBD8C1C0-3671-F5DC-941A-857F45531485}"/>
          </ac:spMkLst>
        </pc:spChg>
        <pc:spChg chg="mod">
          <ac:chgData name="Devyani Khandat" userId="e4f9d9f56e9cbcc7" providerId="LiveId" clId="{2A39BFCD-61F3-48D8-9CFB-CC9D7B720A08}" dt="2026-03-27T09:30:12.701" v="28" actId="1076"/>
          <ac:spMkLst>
            <pc:docMk/>
            <pc:sldMk cId="3748336271" sldId="268"/>
            <ac:spMk id="4" creationId="{16F53703-128E-52FC-0B9C-610B69688D23}"/>
          </ac:spMkLst>
        </pc:spChg>
        <pc:spChg chg="add">
          <ac:chgData name="Devyani Khandat" userId="e4f9d9f56e9cbcc7" providerId="LiveId" clId="{2A39BFCD-61F3-48D8-9CFB-CC9D7B720A08}" dt="2026-03-27T09:28:33.344" v="10"/>
          <ac:spMkLst>
            <pc:docMk/>
            <pc:sldMk cId="3748336271" sldId="268"/>
            <ac:spMk id="5" creationId="{43377D21-4A4B-CB5F-EC5D-D1EC1730E65D}"/>
          </ac:spMkLst>
        </pc:spChg>
      </pc:sldChg>
      <pc:sldChg chg="modSp add mod">
        <pc:chgData name="Devyani Khandat" userId="e4f9d9f56e9cbcc7" providerId="LiveId" clId="{2A39BFCD-61F3-48D8-9CFB-CC9D7B720A08}" dt="2026-03-27T09:35:56.482" v="93" actId="20577"/>
        <pc:sldMkLst>
          <pc:docMk/>
          <pc:sldMk cId="2308691042" sldId="270"/>
        </pc:sldMkLst>
        <pc:spChg chg="mod">
          <ac:chgData name="Devyani Khandat" userId="e4f9d9f56e9cbcc7" providerId="LiveId" clId="{2A39BFCD-61F3-48D8-9CFB-CC9D7B720A08}" dt="2026-03-27T09:34:00.317" v="71" actId="20577"/>
          <ac:spMkLst>
            <pc:docMk/>
            <pc:sldMk cId="2308691042" sldId="270"/>
            <ac:spMk id="2" creationId="{F1058E37-C52B-9937-528B-9A67F046D94F}"/>
          </ac:spMkLst>
        </pc:spChg>
        <pc:spChg chg="mod">
          <ac:chgData name="Devyani Khandat" userId="e4f9d9f56e9cbcc7" providerId="LiveId" clId="{2A39BFCD-61F3-48D8-9CFB-CC9D7B720A08}" dt="2026-03-27T09:35:56.482" v="93" actId="20577"/>
          <ac:spMkLst>
            <pc:docMk/>
            <pc:sldMk cId="2308691042" sldId="270"/>
            <ac:spMk id="3" creationId="{E1686B99-42A5-CC98-1A84-D5EDFF2408D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2172082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311187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4102913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2A06B3-C715-42C3-B6F1-D059A9F91A87}"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4199064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2A06B3-C715-42C3-B6F1-D059A9F91A87}" type="datetimeFigureOut">
              <a:rPr lang="en-IN" smtClean="0"/>
              <a:t>27-03-2026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2990619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2A06B3-C715-42C3-B6F1-D059A9F91A87}" type="datetimeFigureOut">
              <a:rPr lang="en-IN" smtClean="0"/>
              <a:t>27-03-2026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2425642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2A06B3-C715-42C3-B6F1-D059A9F91A87}" type="datetimeFigureOut">
              <a:rPr lang="en-IN" smtClean="0"/>
              <a:t>27-03-2026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3814180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2A06B3-C715-42C3-B6F1-D059A9F91A87}"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900534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2A06B3-C715-42C3-B6F1-D059A9F91A87}"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3204382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2A06B3-C715-42C3-B6F1-D059A9F91A87}"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1624266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3156386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3183458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2573214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2108307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1740371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1086614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2A06B3-C715-42C3-B6F1-D059A9F91A87}"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DCC79C-D1B2-4500-855F-EC5750B84422}" type="slidenum">
              <a:rPr lang="en-IN" smtClean="0"/>
              <a:t>‹#›</a:t>
            </a:fld>
            <a:endParaRPr lang="en-IN"/>
          </a:p>
        </p:txBody>
      </p:sp>
    </p:spTree>
    <p:extLst>
      <p:ext uri="{BB962C8B-B14F-4D97-AF65-F5344CB8AC3E}">
        <p14:creationId xmlns:p14="http://schemas.microsoft.com/office/powerpoint/2010/main" val="395500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2A06B3-C715-42C3-B6F1-D059A9F91A87}" type="datetimeFigureOut">
              <a:rPr lang="en-IN" smtClean="0"/>
              <a:t>27-03-2026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DDCC79C-D1B2-4500-855F-EC5750B84422}" type="slidenum">
              <a:rPr lang="en-IN" smtClean="0"/>
              <a:t>‹#›</a:t>
            </a:fld>
            <a:endParaRPr lang="en-IN"/>
          </a:p>
        </p:txBody>
      </p:sp>
    </p:spTree>
    <p:extLst>
      <p:ext uri="{BB962C8B-B14F-4D97-AF65-F5344CB8AC3E}">
        <p14:creationId xmlns:p14="http://schemas.microsoft.com/office/powerpoint/2010/main" val="51435164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9C2EF-DD92-CC2E-66C7-9E35FE69C07D}"/>
              </a:ext>
            </a:extLst>
          </p:cNvPr>
          <p:cNvSpPr>
            <a:spLocks noGrp="1"/>
          </p:cNvSpPr>
          <p:nvPr>
            <p:ph type="ctrTitle"/>
          </p:nvPr>
        </p:nvSpPr>
        <p:spPr>
          <a:xfrm>
            <a:off x="2005780" y="1727202"/>
            <a:ext cx="9821707" cy="1134535"/>
          </a:xfrm>
        </p:spPr>
        <p:txBody>
          <a:bodyPr>
            <a:normAutofit fontScale="90000"/>
          </a:bodyPr>
          <a:lstStyle/>
          <a:p>
            <a:pPr algn="just"/>
            <a:r>
              <a:rPr lang="en-IN" sz="5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Sales &amp; Profit Analysis Dashboard</a:t>
            </a:r>
          </a:p>
        </p:txBody>
      </p:sp>
      <p:sp>
        <p:nvSpPr>
          <p:cNvPr id="3" name="Subtitle 2">
            <a:extLst>
              <a:ext uri="{FF2B5EF4-FFF2-40B4-BE49-F238E27FC236}">
                <a16:creationId xmlns:a16="http://schemas.microsoft.com/office/drawing/2014/main" id="{C32F9D21-41C2-F55B-0CE9-B97A822DFF2A}"/>
              </a:ext>
            </a:extLst>
          </p:cNvPr>
          <p:cNvSpPr>
            <a:spLocks noGrp="1"/>
          </p:cNvSpPr>
          <p:nvPr>
            <p:ph type="subTitle" idx="1"/>
          </p:nvPr>
        </p:nvSpPr>
        <p:spPr>
          <a:xfrm>
            <a:off x="4397391" y="2993379"/>
            <a:ext cx="6987645" cy="1388535"/>
          </a:xfrm>
        </p:spPr>
        <p:txBody>
          <a:bodyPr>
            <a:normAutofit/>
          </a:bodyPr>
          <a:lstStyle/>
          <a:p>
            <a:pPr algn="just"/>
            <a:r>
              <a:rPr lang="en-US" dirty="0">
                <a:solidFill>
                  <a:schemeClr val="accent1">
                    <a:lumMod val="75000"/>
                  </a:schemeClr>
                </a:solidFill>
                <a:latin typeface="Times New Roman" panose="02020603050405020304" pitchFamily="18" charset="0"/>
                <a:cs typeface="Times New Roman" panose="02020603050405020304" pitchFamily="18" charset="0"/>
              </a:rPr>
              <a:t>Task 4 - Data Storytelling &amp; Statistical Validation</a:t>
            </a:r>
            <a:endParaRPr lang="en-IN"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9997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2A02-4AAE-D9A4-D7B1-AFB12B9DDC24}"/>
              </a:ext>
            </a:extLst>
          </p:cNvPr>
          <p:cNvSpPr>
            <a:spLocks noGrp="1"/>
          </p:cNvSpPr>
          <p:nvPr>
            <p:ph type="title"/>
          </p:nvPr>
        </p:nvSpPr>
        <p:spPr>
          <a:xfrm>
            <a:off x="1602301" y="1156518"/>
            <a:ext cx="3333495" cy="710381"/>
          </a:xfrm>
        </p:spPr>
        <p:txBody>
          <a:bodyPr>
            <a:normAutofit/>
          </a:bodyPr>
          <a:lstStyle/>
          <a:p>
            <a:pPr algn="just"/>
            <a:r>
              <a:rPr lang="en-US" sz="3600" b="1" u="sng" dirty="0">
                <a:solidFill>
                  <a:schemeClr val="tx1">
                    <a:lumMod val="65000"/>
                    <a:lumOff val="35000"/>
                  </a:schemeClr>
                </a:solidFill>
                <a:latin typeface="Times New Roman" panose="02020603050405020304" pitchFamily="18" charset="0"/>
                <a:cs typeface="Times New Roman" panose="02020603050405020304" pitchFamily="18" charset="0"/>
              </a:rPr>
              <a:t>Introduction</a:t>
            </a:r>
            <a:endPar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CB97D3F-4222-A43D-12C6-25E8D24D1C11}"/>
              </a:ext>
            </a:extLst>
          </p:cNvPr>
          <p:cNvSpPr>
            <a:spLocks noGrp="1"/>
          </p:cNvSpPr>
          <p:nvPr>
            <p:ph idx="1"/>
          </p:nvPr>
        </p:nvSpPr>
        <p:spPr>
          <a:xfrm>
            <a:off x="1769626" y="1866899"/>
            <a:ext cx="8652748" cy="3124201"/>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This project is part of Task 4 of my Data Analytics Internship at ApexPlanet. It focuses on data storytelling using a Sales and Profit Analysis dashboard created in Power BI. The goal is to analyze key metrics, identify trends, and derive insights to support better business decision-making. This dashboard enables </a:t>
            </a:r>
            <a:r>
              <a:rPr lang="en-US" sz="2000">
                <a:latin typeface="Times New Roman" panose="02020603050405020304" pitchFamily="18" charset="0"/>
                <a:cs typeface="Times New Roman" panose="02020603050405020304" pitchFamily="18" charset="0"/>
              </a:rPr>
              <a:t>data-driven decision-making </a:t>
            </a:r>
            <a:r>
              <a:rPr lang="en-US" sz="2000" dirty="0">
                <a:latin typeface="Times New Roman" panose="02020603050405020304" pitchFamily="18" charset="0"/>
                <a:cs typeface="Times New Roman" panose="02020603050405020304" pitchFamily="18" charset="0"/>
              </a:rPr>
              <a:t>for business </a:t>
            </a:r>
            <a:r>
              <a:rPr lang="en-US" sz="2000">
                <a:latin typeface="Times New Roman" panose="02020603050405020304" pitchFamily="18" charset="0"/>
                <a:cs typeface="Times New Roman" panose="02020603050405020304" pitchFamily="18" charset="0"/>
              </a:rPr>
              <a:t>growth.</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4590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AF1EF-407E-72D5-2918-9DB740895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109FB-4B91-03F2-029C-1FCD63C11511}"/>
              </a:ext>
            </a:extLst>
          </p:cNvPr>
          <p:cNvSpPr>
            <a:spLocks noGrp="1"/>
          </p:cNvSpPr>
          <p:nvPr>
            <p:ph type="title"/>
          </p:nvPr>
        </p:nvSpPr>
        <p:spPr>
          <a:xfrm>
            <a:off x="1602301" y="1156518"/>
            <a:ext cx="4326551" cy="710381"/>
          </a:xfrm>
        </p:spPr>
        <p:txBody>
          <a:bodyPr>
            <a:normAutofit/>
          </a:bodyPr>
          <a:lstStyle/>
          <a:p>
            <a:pPr algn="just"/>
            <a:r>
              <a:rPr lang="en-US" sz="3600" b="1" u="sng" dirty="0">
                <a:solidFill>
                  <a:schemeClr val="tx1">
                    <a:lumMod val="65000"/>
                    <a:lumOff val="35000"/>
                  </a:schemeClr>
                </a:solidFill>
                <a:latin typeface="Times New Roman" panose="02020603050405020304" pitchFamily="18" charset="0"/>
                <a:cs typeface="Times New Roman" panose="02020603050405020304" pitchFamily="18" charset="0"/>
              </a:rPr>
              <a:t>Overall Performance</a:t>
            </a:r>
            <a:endPar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FD6CC5C3-0C5C-F8D2-D3D0-EFD5BF8932A0}"/>
              </a:ext>
            </a:extLst>
          </p:cNvPr>
          <p:cNvSpPr>
            <a:spLocks noGrp="1" noChangeArrowheads="1"/>
          </p:cNvSpPr>
          <p:nvPr>
            <p:ph idx="1"/>
          </p:nvPr>
        </p:nvSpPr>
        <p:spPr bwMode="auto">
          <a:xfrm>
            <a:off x="1878218" y="2484510"/>
            <a:ext cx="8701292"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Sales: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2.30M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algn="just" defTabSz="91440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Profit: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286.40K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algn="just" defTabSz="914400" eaLnBrk="0" fontAlgn="base"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Discount: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1.56K</a:t>
            </a:r>
          </a:p>
          <a:p>
            <a:pPr marL="0" indent="0" defTabSz="914400" eaLnBrk="0" fontAlgn="base" hangingPunct="0">
              <a:lnSpc>
                <a:spcPct val="150000"/>
              </a:lnSpc>
              <a:spcBef>
                <a:spcPct val="0"/>
              </a:spcBef>
              <a:spcAft>
                <a:spcPct val="0"/>
              </a:spcAft>
              <a:buClrTx/>
              <a:buSzTx/>
              <a:buNone/>
            </a:pPr>
            <a:r>
              <a:rPr lang="en-US" sz="2000" b="1" dirty="0">
                <a:latin typeface="Times New Roman" panose="02020603050405020304" pitchFamily="18" charset="0"/>
                <a:cs typeface="Times New Roman" panose="02020603050405020304" pitchFamily="18" charset="0"/>
              </a:rPr>
              <a:t>Insight: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business generates strong sales, but profit is comparatively lower, indicating possible low margins or high discount impact.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06142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ACF791-D9F3-0004-7408-690EF3CF6B38}"/>
              </a:ext>
            </a:extLst>
          </p:cNvPr>
          <p:cNvPicPr>
            <a:picLocks noChangeAspect="1"/>
          </p:cNvPicPr>
          <p:nvPr/>
        </p:nvPicPr>
        <p:blipFill>
          <a:blip r:embed="rId2">
            <a:extLst>
              <a:ext uri="{28A0092B-C50C-407E-A947-70E740481C1C}">
                <a14:useLocalDpi xmlns:a14="http://schemas.microsoft.com/office/drawing/2010/main" val="0"/>
              </a:ext>
            </a:extLst>
          </a:blip>
          <a:srcRect l="5756" t="12983" r="68654" b="68086"/>
          <a:stretch>
            <a:fillRect/>
          </a:stretch>
        </p:blipFill>
        <p:spPr>
          <a:xfrm>
            <a:off x="4598537" y="1297857"/>
            <a:ext cx="2994923" cy="1238864"/>
          </a:xfrm>
          <a:prstGeom prst="rect">
            <a:avLst/>
          </a:prstGeom>
        </p:spPr>
      </p:pic>
      <p:pic>
        <p:nvPicPr>
          <p:cNvPr id="5" name="Picture 4">
            <a:extLst>
              <a:ext uri="{FF2B5EF4-FFF2-40B4-BE49-F238E27FC236}">
                <a16:creationId xmlns:a16="http://schemas.microsoft.com/office/drawing/2014/main" id="{0F11C3F9-9A73-F233-E055-A4AA5D80F4A6}"/>
              </a:ext>
            </a:extLst>
          </p:cNvPr>
          <p:cNvPicPr>
            <a:picLocks noChangeAspect="1"/>
          </p:cNvPicPr>
          <p:nvPr/>
        </p:nvPicPr>
        <p:blipFill>
          <a:blip r:embed="rId2">
            <a:extLst>
              <a:ext uri="{28A0092B-C50C-407E-A947-70E740481C1C}">
                <a14:useLocalDpi xmlns:a14="http://schemas.microsoft.com/office/drawing/2010/main" val="0"/>
              </a:ext>
            </a:extLst>
          </a:blip>
          <a:srcRect l="69871" t="11386" r="5564" b="66693"/>
          <a:stretch>
            <a:fillRect/>
          </a:stretch>
        </p:blipFill>
        <p:spPr>
          <a:xfrm>
            <a:off x="4598537" y="2681748"/>
            <a:ext cx="2994926" cy="1494503"/>
          </a:xfrm>
          <a:prstGeom prst="rect">
            <a:avLst/>
          </a:prstGeom>
        </p:spPr>
      </p:pic>
      <p:pic>
        <p:nvPicPr>
          <p:cNvPr id="6" name="Picture 5">
            <a:extLst>
              <a:ext uri="{FF2B5EF4-FFF2-40B4-BE49-F238E27FC236}">
                <a16:creationId xmlns:a16="http://schemas.microsoft.com/office/drawing/2014/main" id="{E29839B8-ACF1-0AEA-8C6B-E2F0D90B07B7}"/>
              </a:ext>
            </a:extLst>
          </p:cNvPr>
          <p:cNvPicPr>
            <a:picLocks noChangeAspect="1"/>
          </p:cNvPicPr>
          <p:nvPr/>
        </p:nvPicPr>
        <p:blipFill>
          <a:blip r:embed="rId2">
            <a:extLst>
              <a:ext uri="{28A0092B-C50C-407E-A947-70E740481C1C}">
                <a14:useLocalDpi xmlns:a14="http://schemas.microsoft.com/office/drawing/2010/main" val="0"/>
              </a:ext>
            </a:extLst>
          </a:blip>
          <a:srcRect l="39807" t="11386" r="35628" b="66693"/>
          <a:stretch>
            <a:fillRect/>
          </a:stretch>
        </p:blipFill>
        <p:spPr>
          <a:xfrm>
            <a:off x="4598536" y="4321278"/>
            <a:ext cx="2994925" cy="1494503"/>
          </a:xfrm>
          <a:prstGeom prst="rect">
            <a:avLst/>
          </a:prstGeom>
        </p:spPr>
      </p:pic>
      <p:sp>
        <p:nvSpPr>
          <p:cNvPr id="7" name="TextBox 6">
            <a:extLst>
              <a:ext uri="{FF2B5EF4-FFF2-40B4-BE49-F238E27FC236}">
                <a16:creationId xmlns:a16="http://schemas.microsoft.com/office/drawing/2014/main" id="{5CE3A403-4E18-4110-F38C-43005EDB41DE}"/>
              </a:ext>
            </a:extLst>
          </p:cNvPr>
          <p:cNvSpPr txBox="1"/>
          <p:nvPr/>
        </p:nvSpPr>
        <p:spPr>
          <a:xfrm>
            <a:off x="5014449" y="568055"/>
            <a:ext cx="2163097" cy="584775"/>
          </a:xfrm>
          <a:prstGeom prst="rect">
            <a:avLst/>
          </a:prstGeom>
          <a:noFill/>
        </p:spPr>
        <p:txBody>
          <a:bodyPr wrap="square" rtlCol="0">
            <a:spAutoFit/>
          </a:bodyPr>
          <a:lstStyle/>
          <a:p>
            <a:r>
              <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KPI Cards</a:t>
            </a:r>
            <a:endParaRPr lang="en-IN"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90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C319B-62F2-E803-5EE6-AB911D1E1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7AE55-5FA8-6E38-DCDA-6E189D16ABCF}"/>
              </a:ext>
            </a:extLst>
          </p:cNvPr>
          <p:cNvSpPr>
            <a:spLocks noGrp="1"/>
          </p:cNvSpPr>
          <p:nvPr>
            <p:ph type="title"/>
          </p:nvPr>
        </p:nvSpPr>
        <p:spPr>
          <a:xfrm>
            <a:off x="1523644" y="1372828"/>
            <a:ext cx="3913596" cy="710381"/>
          </a:xfrm>
        </p:spPr>
        <p:txBody>
          <a:bodyPr>
            <a:noAutofit/>
          </a:bodyPr>
          <a:lstStyle/>
          <a:p>
            <a:pPr algn="just"/>
            <a:r>
              <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rPr>
              <a:t>Category Analysis</a:t>
            </a:r>
          </a:p>
        </p:txBody>
      </p:sp>
      <p:sp>
        <p:nvSpPr>
          <p:cNvPr id="3" name="Content Placeholder 2">
            <a:extLst>
              <a:ext uri="{FF2B5EF4-FFF2-40B4-BE49-F238E27FC236}">
                <a16:creationId xmlns:a16="http://schemas.microsoft.com/office/drawing/2014/main" id="{69657874-2A1E-CA64-118D-1EC1549F136E}"/>
              </a:ext>
            </a:extLst>
          </p:cNvPr>
          <p:cNvSpPr>
            <a:spLocks noGrp="1"/>
          </p:cNvSpPr>
          <p:nvPr>
            <p:ph idx="1"/>
          </p:nvPr>
        </p:nvSpPr>
        <p:spPr>
          <a:xfrm>
            <a:off x="1769626" y="2201198"/>
            <a:ext cx="8652748" cy="3124201"/>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Technology has the highest sales and profit.</a:t>
            </a:r>
          </a:p>
          <a:p>
            <a:pPr algn="just">
              <a:lnSpc>
                <a:spcPct val="150000"/>
              </a:lnSpc>
            </a:pPr>
            <a:r>
              <a:rPr lang="en-US" sz="2000" dirty="0">
                <a:latin typeface="Times New Roman" panose="02020603050405020304" pitchFamily="18" charset="0"/>
                <a:cs typeface="Times New Roman" panose="02020603050405020304" pitchFamily="18" charset="0"/>
              </a:rPr>
              <a:t>Office Supplies shows stable performance</a:t>
            </a:r>
          </a:p>
          <a:p>
            <a:pPr algn="just">
              <a:lnSpc>
                <a:spcPct val="150000"/>
              </a:lnSpc>
            </a:pPr>
            <a:r>
              <a:rPr lang="en-US" sz="2000" dirty="0">
                <a:latin typeface="Times New Roman" panose="02020603050405020304" pitchFamily="18" charset="0"/>
                <a:cs typeface="Times New Roman" panose="02020603050405020304" pitchFamily="18" charset="0"/>
              </a:rPr>
              <a:t>Furniture has moderate sales but very low profit</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Key Insight</a:t>
            </a:r>
            <a:r>
              <a:rPr lang="en-US" sz="20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High sales does not always result in high profit, as seen in the Furniture category.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385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4C2CC1C-A8F5-E0CC-6E94-81FE57BAD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7560" y="1650301"/>
            <a:ext cx="4058440" cy="3557398"/>
          </a:xfrm>
          <a:prstGeom prst="rect">
            <a:avLst/>
          </a:prstGeom>
        </p:spPr>
      </p:pic>
      <p:pic>
        <p:nvPicPr>
          <p:cNvPr id="11" name="Picture 10">
            <a:extLst>
              <a:ext uri="{FF2B5EF4-FFF2-40B4-BE49-F238E27FC236}">
                <a16:creationId xmlns:a16="http://schemas.microsoft.com/office/drawing/2014/main" id="{AA5260A1-ECD1-39AC-A429-FE43094E482D}"/>
              </a:ext>
            </a:extLst>
          </p:cNvPr>
          <p:cNvPicPr>
            <a:picLocks noChangeAspect="1"/>
          </p:cNvPicPr>
          <p:nvPr/>
        </p:nvPicPr>
        <p:blipFill>
          <a:blip r:embed="rId3">
            <a:extLst>
              <a:ext uri="{28A0092B-C50C-407E-A947-70E740481C1C}">
                <a14:useLocalDpi xmlns:a14="http://schemas.microsoft.com/office/drawing/2010/main" val="0"/>
              </a:ext>
            </a:extLst>
          </a:blip>
          <a:srcRect l="37984" t="32729" r="33549" b="23911"/>
          <a:stretch>
            <a:fillRect/>
          </a:stretch>
        </p:blipFill>
        <p:spPr>
          <a:xfrm>
            <a:off x="6758606" y="1650301"/>
            <a:ext cx="4176760" cy="3557398"/>
          </a:xfrm>
          <a:prstGeom prst="rect">
            <a:avLst/>
          </a:prstGeom>
        </p:spPr>
      </p:pic>
    </p:spTree>
    <p:extLst>
      <p:ext uri="{BB962C8B-B14F-4D97-AF65-F5344CB8AC3E}">
        <p14:creationId xmlns:p14="http://schemas.microsoft.com/office/powerpoint/2010/main" val="276480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496CE-210A-4D88-782D-A2992E973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D7898-2CBE-F112-0A87-286F29C24424}"/>
              </a:ext>
            </a:extLst>
          </p:cNvPr>
          <p:cNvSpPr>
            <a:spLocks noGrp="1"/>
          </p:cNvSpPr>
          <p:nvPr>
            <p:ph type="title"/>
          </p:nvPr>
        </p:nvSpPr>
        <p:spPr>
          <a:xfrm>
            <a:off x="1572805" y="1087693"/>
            <a:ext cx="3913596" cy="710381"/>
          </a:xfrm>
        </p:spPr>
        <p:txBody>
          <a:bodyPr>
            <a:noAutofit/>
          </a:bodyPr>
          <a:lstStyle/>
          <a:p>
            <a:pPr algn="just"/>
            <a:r>
              <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rPr>
              <a:t>Regional Analysis</a:t>
            </a:r>
          </a:p>
        </p:txBody>
      </p:sp>
      <p:sp>
        <p:nvSpPr>
          <p:cNvPr id="3" name="Content Placeholder 2">
            <a:extLst>
              <a:ext uri="{FF2B5EF4-FFF2-40B4-BE49-F238E27FC236}">
                <a16:creationId xmlns:a16="http://schemas.microsoft.com/office/drawing/2014/main" id="{A3BB5D04-33D0-8EA6-00C9-FF1D98DCB742}"/>
              </a:ext>
            </a:extLst>
          </p:cNvPr>
          <p:cNvSpPr>
            <a:spLocks noGrp="1"/>
          </p:cNvSpPr>
          <p:nvPr>
            <p:ph idx="1"/>
          </p:nvPr>
        </p:nvSpPr>
        <p:spPr>
          <a:xfrm>
            <a:off x="1769626" y="1879191"/>
            <a:ext cx="8652748" cy="3754694"/>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West region has the highest sales.</a:t>
            </a:r>
          </a:p>
          <a:p>
            <a:pPr algn="just">
              <a:lnSpc>
                <a:spcPct val="150000"/>
              </a:lnSpc>
            </a:pPr>
            <a:r>
              <a:rPr lang="en-US" sz="2000" dirty="0">
                <a:latin typeface="Times New Roman" panose="02020603050405020304" pitchFamily="18" charset="0"/>
                <a:cs typeface="Times New Roman" panose="02020603050405020304" pitchFamily="18" charset="0"/>
              </a:rPr>
              <a:t>East follows with a strong performance.</a:t>
            </a:r>
          </a:p>
          <a:p>
            <a:pPr algn="just">
              <a:lnSpc>
                <a:spcPct val="150000"/>
              </a:lnSpc>
            </a:pPr>
            <a:r>
              <a:rPr lang="en-IN" sz="2000" dirty="0">
                <a:latin typeface="Times New Roman" panose="02020603050405020304" pitchFamily="18" charset="0"/>
                <a:cs typeface="Times New Roman" panose="02020603050405020304" pitchFamily="18" charset="0"/>
              </a:rPr>
              <a:t>Central is moderate.</a:t>
            </a:r>
          </a:p>
          <a:p>
            <a:pPr algn="just">
              <a:lnSpc>
                <a:spcPct val="150000"/>
              </a:lnSpc>
            </a:pPr>
            <a:r>
              <a:rPr lang="en-US" sz="2000" dirty="0">
                <a:latin typeface="Times New Roman" panose="02020603050405020304" pitchFamily="18" charset="0"/>
                <a:cs typeface="Times New Roman" panose="02020603050405020304" pitchFamily="18" charset="0"/>
              </a:rPr>
              <a:t>South has the lowest sales.</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Key Insight</a:t>
            </a:r>
            <a:r>
              <a:rPr lang="en-US" sz="20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Sales performance varies by region, with the South needing improvement.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72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D29EA1-E7D8-FE9B-5406-3DE9649FE101}"/>
              </a:ext>
            </a:extLst>
          </p:cNvPr>
          <p:cNvPicPr>
            <a:picLocks noChangeAspect="1"/>
          </p:cNvPicPr>
          <p:nvPr/>
        </p:nvPicPr>
        <p:blipFill>
          <a:blip r:embed="rId2">
            <a:extLst>
              <a:ext uri="{28A0092B-C50C-407E-A947-70E740481C1C}">
                <a14:useLocalDpi xmlns:a14="http://schemas.microsoft.com/office/drawing/2010/main" val="0"/>
              </a:ext>
            </a:extLst>
          </a:blip>
          <a:srcRect l="68021" t="32009" r="6260" b="23572"/>
          <a:stretch>
            <a:fillRect/>
          </a:stretch>
        </p:blipFill>
        <p:spPr>
          <a:xfrm>
            <a:off x="3628103" y="1008324"/>
            <a:ext cx="4935794" cy="4841352"/>
          </a:xfrm>
          <a:prstGeom prst="rect">
            <a:avLst/>
          </a:prstGeom>
        </p:spPr>
      </p:pic>
    </p:spTree>
    <p:extLst>
      <p:ext uri="{BB962C8B-B14F-4D97-AF65-F5344CB8AC3E}">
        <p14:creationId xmlns:p14="http://schemas.microsoft.com/office/powerpoint/2010/main" val="3278795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6BB4E-367A-A9CE-1301-F4C44FF41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0E9B5-770F-1117-9281-5DAA8DFA5489}"/>
              </a:ext>
            </a:extLst>
          </p:cNvPr>
          <p:cNvSpPr>
            <a:spLocks noGrp="1"/>
          </p:cNvSpPr>
          <p:nvPr>
            <p:ph type="title"/>
          </p:nvPr>
        </p:nvSpPr>
        <p:spPr>
          <a:xfrm>
            <a:off x="1572805" y="478093"/>
            <a:ext cx="3913596" cy="710381"/>
          </a:xfrm>
        </p:spPr>
        <p:txBody>
          <a:bodyPr>
            <a:noAutofit/>
          </a:bodyPr>
          <a:lstStyle/>
          <a:p>
            <a:pPr algn="just"/>
            <a:r>
              <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rPr>
              <a:t>Analytical Insights</a:t>
            </a:r>
          </a:p>
        </p:txBody>
      </p:sp>
      <p:sp>
        <p:nvSpPr>
          <p:cNvPr id="3" name="Content Placeholder 2">
            <a:extLst>
              <a:ext uri="{FF2B5EF4-FFF2-40B4-BE49-F238E27FC236}">
                <a16:creationId xmlns:a16="http://schemas.microsoft.com/office/drawing/2014/main" id="{141F1240-F9FF-EECC-391C-B794F6940305}"/>
              </a:ext>
            </a:extLst>
          </p:cNvPr>
          <p:cNvSpPr>
            <a:spLocks noGrp="1"/>
          </p:cNvSpPr>
          <p:nvPr>
            <p:ph idx="1"/>
          </p:nvPr>
        </p:nvSpPr>
        <p:spPr>
          <a:xfrm>
            <a:off x="1887613" y="1306463"/>
            <a:ext cx="9429316" cy="5320480"/>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analysis highlights variations in sales and profit across different categories and regions. It shows that higher sales do not always translate into higher profit, indicating differences in cost structure and discount impact. The data also reflects an uneven distribution of profitability, suggesting that certain segments perform better than others.</a:t>
            </a:r>
          </a:p>
          <a:p>
            <a:pPr marL="0" indent="0" algn="just">
              <a:lnSpc>
                <a:spcPct val="150000"/>
              </a:lnSpc>
              <a:buNone/>
            </a:pPr>
            <a:r>
              <a:rPr lang="en-US" sz="2000" b="1" dirty="0">
                <a:latin typeface="Times New Roman" panose="02020603050405020304" pitchFamily="18" charset="0"/>
                <a:cs typeface="Times New Roman" panose="02020603050405020304" pitchFamily="18" charset="0"/>
              </a:rPr>
              <a:t>Key Points: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Profit distribution varies across categories </a:t>
            </a:r>
          </a:p>
          <a:p>
            <a:pPr algn="just">
              <a:lnSpc>
                <a:spcPct val="150000"/>
              </a:lnSpc>
            </a:pPr>
            <a:r>
              <a:rPr lang="en-US" sz="2000" dirty="0">
                <a:latin typeface="Times New Roman" panose="02020603050405020304" pitchFamily="18" charset="0"/>
                <a:cs typeface="Times New Roman" panose="02020603050405020304" pitchFamily="18" charset="0"/>
              </a:rPr>
              <a:t>High sales does not always mean high profit </a:t>
            </a:r>
          </a:p>
          <a:p>
            <a:pPr algn="just">
              <a:lnSpc>
                <a:spcPct val="150000"/>
              </a:lnSpc>
            </a:pPr>
            <a:r>
              <a:rPr lang="en-US" sz="2000" dirty="0">
                <a:latin typeface="Times New Roman" panose="02020603050405020304" pitchFamily="18" charset="0"/>
                <a:cs typeface="Times New Roman" panose="02020603050405020304" pitchFamily="18" charset="0"/>
              </a:rPr>
              <a:t>Furniture category shows low profitability </a:t>
            </a:r>
          </a:p>
          <a:p>
            <a:pPr algn="just">
              <a:lnSpc>
                <a:spcPct val="150000"/>
              </a:lnSpc>
            </a:pPr>
            <a:r>
              <a:rPr lang="en-US" sz="2000" dirty="0">
                <a:latin typeface="Times New Roman" panose="02020603050405020304" pitchFamily="18" charset="0"/>
                <a:cs typeface="Times New Roman" panose="02020603050405020304" pitchFamily="18" charset="0"/>
              </a:rPr>
              <a:t>Sales are concentrated more in the West region</a:t>
            </a:r>
          </a:p>
          <a:p>
            <a:pPr marL="0" indent="0" algn="just">
              <a:lnSpc>
                <a:spcPct val="15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3625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46117-0CE3-E548-E77F-B9BF699EE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58E37-C52B-9937-528B-9A67F046D94F}"/>
              </a:ext>
            </a:extLst>
          </p:cNvPr>
          <p:cNvSpPr>
            <a:spLocks noGrp="1"/>
          </p:cNvSpPr>
          <p:nvPr>
            <p:ph type="title"/>
          </p:nvPr>
        </p:nvSpPr>
        <p:spPr>
          <a:xfrm>
            <a:off x="1572805" y="478093"/>
            <a:ext cx="3913596" cy="710381"/>
          </a:xfrm>
        </p:spPr>
        <p:txBody>
          <a:bodyPr>
            <a:noAutofit/>
          </a:bodyPr>
          <a:lstStyle/>
          <a:p>
            <a:pPr algn="just"/>
            <a:r>
              <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rPr>
              <a:t>Hypothesis Testing</a:t>
            </a:r>
          </a:p>
        </p:txBody>
      </p:sp>
      <p:sp>
        <p:nvSpPr>
          <p:cNvPr id="3" name="Content Placeholder 2">
            <a:extLst>
              <a:ext uri="{FF2B5EF4-FFF2-40B4-BE49-F238E27FC236}">
                <a16:creationId xmlns:a16="http://schemas.microsoft.com/office/drawing/2014/main" id="{E1686B99-42A5-CC98-1A84-D5EDFF2408D6}"/>
              </a:ext>
            </a:extLst>
          </p:cNvPr>
          <p:cNvSpPr>
            <a:spLocks noGrp="1"/>
          </p:cNvSpPr>
          <p:nvPr>
            <p:ph idx="1"/>
          </p:nvPr>
        </p:nvSpPr>
        <p:spPr>
          <a:xfrm>
            <a:off x="2172748" y="1414617"/>
            <a:ext cx="8534582" cy="5320480"/>
          </a:xfrm>
        </p:spPr>
        <p:txBody>
          <a:bodyPr>
            <a:noAutofit/>
          </a:bodyPr>
          <a:lstStyle/>
          <a:p>
            <a:pPr marL="0" indent="0" algn="just">
              <a:buNone/>
            </a:pPr>
            <a:r>
              <a:rPr lang="en-US" sz="2000" b="1" dirty="0">
                <a:latin typeface="Times New Roman" panose="02020603050405020304" pitchFamily="18" charset="0"/>
                <a:cs typeface="Times New Roman" panose="02020603050405020304" pitchFamily="18" charset="0"/>
              </a:rPr>
              <a:t>Hypothesis: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H0 (Null): Discount has no significant effect on Profit. </a:t>
            </a:r>
          </a:p>
          <a:p>
            <a:pPr algn="just"/>
            <a:r>
              <a:rPr lang="en-US" sz="2000" dirty="0">
                <a:latin typeface="Times New Roman" panose="02020603050405020304" pitchFamily="18" charset="0"/>
                <a:cs typeface="Times New Roman" panose="02020603050405020304" pitchFamily="18" charset="0"/>
              </a:rPr>
              <a:t>H1 (Alternative): Discount significantly affects Profit. </a:t>
            </a:r>
          </a:p>
          <a:p>
            <a:pPr marL="0" indent="0" algn="just">
              <a:buNone/>
            </a:pPr>
            <a:r>
              <a:rPr lang="en-US" sz="2000" b="1" dirty="0">
                <a:latin typeface="Times New Roman" panose="02020603050405020304" pitchFamily="18" charset="0"/>
                <a:cs typeface="Times New Roman" panose="02020603050405020304" pitchFamily="18" charset="0"/>
              </a:rPr>
              <a:t>Method:</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Correlation analysis / basic statistical test </a:t>
            </a:r>
          </a:p>
          <a:p>
            <a:pPr marL="0" indent="0" algn="just">
              <a:buNone/>
            </a:pPr>
            <a:r>
              <a:rPr lang="en-US" sz="2000" b="1" dirty="0">
                <a:latin typeface="Times New Roman" panose="02020603050405020304" pitchFamily="18" charset="0"/>
                <a:cs typeface="Times New Roman" panose="02020603050405020304" pitchFamily="18" charset="0"/>
              </a:rPr>
              <a:t>Result: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negative relationship is observed between discount and profit. </a:t>
            </a:r>
          </a:p>
          <a:p>
            <a:pPr marL="0" indent="0" algn="just">
              <a:buNone/>
            </a:pPr>
            <a:r>
              <a:rPr lang="en-US" sz="2000" b="1" dirty="0">
                <a:latin typeface="Times New Roman" panose="02020603050405020304" pitchFamily="18" charset="0"/>
                <a:cs typeface="Times New Roman" panose="02020603050405020304" pitchFamily="18" charset="0"/>
              </a:rPr>
              <a:t>Interpretation:</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Higher discounts lead to lower profitability. </a:t>
            </a:r>
          </a:p>
          <a:p>
            <a:pPr marL="0" indent="0" algn="just">
              <a:buNone/>
            </a:pPr>
            <a:r>
              <a:rPr lang="en-US" sz="2000" b="1" dirty="0">
                <a:latin typeface="Times New Roman" panose="02020603050405020304" pitchFamily="18" charset="0"/>
                <a:cs typeface="Times New Roman" panose="02020603050405020304" pitchFamily="18" charset="0"/>
              </a:rPr>
              <a:t>Business Conclusion:</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Discount strategies should be optimized to improve profit margins.</a:t>
            </a:r>
          </a:p>
          <a:p>
            <a:pPr marL="0" indent="0" algn="just">
              <a:lnSpc>
                <a:spcPct val="150000"/>
              </a:lnSpc>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8691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91E1-7753-BF28-F9F3-D57872BA2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460B3-6417-FA46-0CE1-D988FA6F134D}"/>
              </a:ext>
            </a:extLst>
          </p:cNvPr>
          <p:cNvSpPr>
            <a:spLocks noGrp="1"/>
          </p:cNvSpPr>
          <p:nvPr>
            <p:ph type="title"/>
          </p:nvPr>
        </p:nvSpPr>
        <p:spPr>
          <a:xfrm>
            <a:off x="1572804" y="1407458"/>
            <a:ext cx="2782886" cy="710381"/>
          </a:xfrm>
        </p:spPr>
        <p:txBody>
          <a:bodyPr>
            <a:noAutofit/>
          </a:bodyPr>
          <a:lstStyle/>
          <a:p>
            <a:pPr algn="just"/>
            <a:r>
              <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rPr>
              <a:t>Key Insights</a:t>
            </a:r>
          </a:p>
        </p:txBody>
      </p:sp>
      <p:sp>
        <p:nvSpPr>
          <p:cNvPr id="4" name="Rectangle 1">
            <a:extLst>
              <a:ext uri="{FF2B5EF4-FFF2-40B4-BE49-F238E27FC236}">
                <a16:creationId xmlns:a16="http://schemas.microsoft.com/office/drawing/2014/main" id="{ECDBADC5-BBC5-F991-2BC4-9AA3DA380AF1}"/>
              </a:ext>
            </a:extLst>
          </p:cNvPr>
          <p:cNvSpPr>
            <a:spLocks noGrp="1" noChangeArrowheads="1"/>
          </p:cNvSpPr>
          <p:nvPr>
            <p:ph idx="1"/>
          </p:nvPr>
        </p:nvSpPr>
        <p:spPr bwMode="auto">
          <a:xfrm>
            <a:off x="2305537" y="2117839"/>
            <a:ext cx="6361727" cy="2622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Technology is the top-performing category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Furniture is low in profitability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West region dominates sales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South region underperforms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Profit margins are inconsistent </a:t>
            </a:r>
          </a:p>
        </p:txBody>
      </p:sp>
    </p:spTree>
    <p:extLst>
      <p:ext uri="{BB962C8B-B14F-4D97-AF65-F5344CB8AC3E}">
        <p14:creationId xmlns:p14="http://schemas.microsoft.com/office/powerpoint/2010/main" val="2414955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7DCBB-1EEB-BB7D-07C8-48D889016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9B0F4-F432-B82C-B077-7CDFD5E37B88}"/>
              </a:ext>
            </a:extLst>
          </p:cNvPr>
          <p:cNvSpPr>
            <a:spLocks noGrp="1"/>
          </p:cNvSpPr>
          <p:nvPr>
            <p:ph type="title"/>
          </p:nvPr>
        </p:nvSpPr>
        <p:spPr>
          <a:xfrm>
            <a:off x="1612133" y="1151819"/>
            <a:ext cx="2782886" cy="710381"/>
          </a:xfrm>
        </p:spPr>
        <p:txBody>
          <a:bodyPr>
            <a:noAutofit/>
          </a:bodyPr>
          <a:lstStyle/>
          <a:p>
            <a:pPr algn="just"/>
            <a:r>
              <a:rPr lang="en-IN" sz="3600" b="1" u="sng" dirty="0">
                <a:solidFill>
                  <a:schemeClr val="tx1">
                    <a:lumMod val="65000"/>
                    <a:lumOff val="35000"/>
                  </a:schemeClr>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16F53703-128E-52FC-0B9C-610B69688D23}"/>
              </a:ext>
            </a:extLst>
          </p:cNvPr>
          <p:cNvSpPr>
            <a:spLocks noGrp="1" noChangeArrowheads="1"/>
          </p:cNvSpPr>
          <p:nvPr>
            <p:ph idx="1"/>
          </p:nvPr>
        </p:nvSpPr>
        <p:spPr bwMode="auto">
          <a:xfrm>
            <a:off x="2237068" y="1887379"/>
            <a:ext cx="8391960" cy="3818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5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The analysis shows that while overall sales performance is strong, profitability varies across categories and regions. Technology emerges as the top-performing category, whereas Furniture requires improvement due to low profit margins. Regionally, the West leads in sales, while the South lags. The findings highlight the need to focus on improving profit margins and strengthening underperforming segments.</a:t>
            </a:r>
          </a:p>
          <a:p>
            <a:pPr algn="just" defTabSz="914400" eaLnBrk="0" fontAlgn="base" hangingPunct="0">
              <a:lnSpc>
                <a:spcPct val="150000"/>
              </a:lnSpc>
              <a:spcBef>
                <a:spcPct val="0"/>
              </a:spcBef>
              <a:spcAft>
                <a:spcPct val="0"/>
              </a:spcAft>
              <a:buClrTx/>
              <a:buSzTx/>
            </a:pPr>
            <a:r>
              <a:rPr lang="en-IN" sz="2000" dirty="0">
                <a:latin typeface="Times New Roman" panose="02020603050405020304" pitchFamily="18" charset="0"/>
                <a:cs typeface="Times New Roman" panose="02020603050405020304" pitchFamily="18" charset="0"/>
              </a:rPr>
              <a:t>Improve profit margins in Furniture</a:t>
            </a:r>
          </a:p>
          <a:p>
            <a:pPr algn="just" defTabSz="914400" eaLnBrk="0" fontAlgn="base" hangingPunct="0">
              <a:lnSpc>
                <a:spcPct val="150000"/>
              </a:lnSpc>
              <a:spcBef>
                <a:spcPct val="0"/>
              </a:spcBef>
              <a:spcAft>
                <a:spcPct val="0"/>
              </a:spcAft>
              <a:buClrTx/>
              <a:buSzTx/>
            </a:pPr>
            <a:r>
              <a:rPr lang="en-US" sz="2000" dirty="0">
                <a:latin typeface="Times New Roman" panose="02020603050405020304" pitchFamily="18" charset="0"/>
                <a:cs typeface="Times New Roman" panose="02020603050405020304" pitchFamily="18" charset="0"/>
              </a:rPr>
              <a:t>Focus growth strategies in the South region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336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6F397B-BFD6-5BDC-2492-C0361D86CD82}"/>
              </a:ext>
            </a:extLst>
          </p:cNvPr>
          <p:cNvSpPr txBox="1"/>
          <p:nvPr/>
        </p:nvSpPr>
        <p:spPr>
          <a:xfrm>
            <a:off x="3328219" y="2295035"/>
            <a:ext cx="5535562" cy="1133965"/>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Project By,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DEVYANI VISHWAS KHANDAT</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CDFCC8D-BFF3-F400-984F-3AC07ED9FECA}"/>
              </a:ext>
            </a:extLst>
          </p:cNvPr>
          <p:cNvSpPr txBox="1"/>
          <p:nvPr/>
        </p:nvSpPr>
        <p:spPr>
          <a:xfrm>
            <a:off x="3328219" y="3429000"/>
            <a:ext cx="2438400" cy="523220"/>
          </a:xfrm>
          <a:prstGeom prst="rect">
            <a:avLst/>
          </a:prstGeom>
          <a:noFill/>
        </p:spPr>
        <p:txBody>
          <a:bodyPr wrap="square" rtlCol="0">
            <a:sp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THANK YOU </a:t>
            </a:r>
            <a:endParaRPr lang="en-IN" sz="28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6895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151</TotalTime>
  <Words>463</Words>
  <Application>Microsoft Office PowerPoint</Application>
  <PresentationFormat>Widescreen</PresentationFormat>
  <Paragraphs>55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Corbel</vt:lpstr>
      <vt:lpstr>Times New Roman</vt:lpstr>
      <vt:lpstr>Parallax</vt:lpstr>
      <vt:lpstr>Sales &amp; Profit Analysis Dashboard</vt:lpstr>
      <vt:lpstr>Introduction</vt:lpstr>
      <vt:lpstr>Overall Performance</vt:lpstr>
      <vt:lpstr>PowerPoint Presentation</vt:lpstr>
      <vt:lpstr>Category Analysis</vt:lpstr>
      <vt:lpstr>PowerPoint Presentation</vt:lpstr>
      <vt:lpstr>Regional Analysis</vt:lpstr>
      <vt:lpstr>PowerPoint Presentation</vt:lpstr>
      <vt:lpstr>Analytical Insights</vt:lpstr>
      <vt:lpstr>Hypothesis Testing</vt:lpstr>
      <vt:lpstr>Key Insights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Devyani Khandat</dc:creator>
  <cp:lastModifiedBy>Devyani Khandat</cp:lastModifiedBy>
  <cp:revision>1</cp:revision>
  <dcterms:created xsi:type="dcterms:W3CDTF">2026-03-27T06:50:40Z</dcterms:created>
  <dcterms:modified xsi:type="dcterms:W3CDTF">2026-03-27T09:36:01Z</dcterms:modified>
</cp:coreProperties>
</file>